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1" r:id="rId5"/>
    <p:sldId id="293" r:id="rId6"/>
    <p:sldId id="286" r:id="rId7"/>
    <p:sldId id="291" r:id="rId8"/>
    <p:sldId id="294" r:id="rId9"/>
    <p:sldId id="290" r:id="rId10"/>
    <p:sldId id="288" r:id="rId11"/>
    <p:sldId id="289" r:id="rId12"/>
    <p:sldId id="287" r:id="rId13"/>
    <p:sldId id="298" r:id="rId14"/>
    <p:sldId id="297" r:id="rId15"/>
    <p:sldId id="296" r:id="rId16"/>
    <p:sldId id="285" r:id="rId17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9C63"/>
    <a:srgbClr val="96628C"/>
    <a:srgbClr val="11A0D7"/>
    <a:srgbClr val="E61F3D"/>
    <a:srgbClr val="CD5A5A"/>
    <a:srgbClr val="FFD746"/>
    <a:srgbClr val="0E2D69"/>
    <a:srgbClr val="D9D9D9"/>
    <a:srgbClr val="EB681F"/>
    <a:srgbClr val="234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440" y="56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04/01/2026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65562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3254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39899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0988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38308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288778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656073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27463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Рассказать в целом мы дошли до самого важного и главного, это центральная система планирования и навигации роя. Здесь по запросу пользователя формулируется задача и цель, строится план действий, происходит роутинг между агентами для конкретных подзадач.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42547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Тут нужно рассказать про инструмент и промежуточные результаты тестовые, пояснить зачем нам нужно дистилляция.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247103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31472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04/01/2026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br>
              <a:rPr lang="ru-RU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Cooperative Visual Perception in Multi-Agent Systems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Факультет компьютерных 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8D49EC-434A-5443-AC3F-85F01995E6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dirty="0"/>
              <a:t>Москва 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27967" y="3548316"/>
            <a:ext cx="7625267" cy="652860"/>
          </a:xfrm>
        </p:spPr>
        <p:txBody>
          <a:bodyPr/>
          <a:lstStyle/>
          <a:p>
            <a:r>
              <a:rPr lang="ru-RU" dirty="0"/>
              <a:t>Студент</a:t>
            </a:r>
            <a:r>
              <a:rPr lang="en-US" dirty="0"/>
              <a:t>: </a:t>
            </a:r>
            <a:r>
              <a:rPr lang="ru-RU" dirty="0"/>
              <a:t>Вольхин Данил Федорович</a:t>
            </a:r>
            <a:endParaRPr lang="en-US" dirty="0"/>
          </a:p>
          <a:p>
            <a:r>
              <a:rPr lang="ru-RU" dirty="0"/>
              <a:t>Научный руководитель</a:t>
            </a:r>
            <a:r>
              <a:rPr lang="en-US" dirty="0"/>
              <a:t>: </a:t>
            </a:r>
            <a:r>
              <a:rPr lang="ru-RU" dirty="0"/>
              <a:t>Копылов Иван Станиславович</a:t>
            </a:r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59746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ACFE05D6-34D2-4C1A-9141-62A96E4BB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9560"/>
              </p:ext>
            </p:extLst>
          </p:nvPr>
        </p:nvGraphicFramePr>
        <p:xfrm>
          <a:off x="566762" y="3255414"/>
          <a:ext cx="5674104" cy="3107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336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4500768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</a:tblGrid>
              <a:tr h="578468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Компонент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Функция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78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Видеопотоки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Передача от всех роботов на центральный сервер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78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Детекция событий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Выявления проблем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: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 столкновения, препятствия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, 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застревания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78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Оркестратор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Получение алертов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 -&gt; 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принятие решения -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&gt; </a:t>
                      </a: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корректировка миссий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 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78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VLA Action (SmolVLA)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Выполнение списка мини-задач от оркестратора → автономное управление отдельным роботом 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56326"/>
                  </a:ext>
                </a:extLst>
              </a:tr>
            </a:tbl>
          </a:graphicData>
        </a:graphic>
      </p:graphicFrame>
      <p:sp>
        <p:nvSpPr>
          <p:cNvPr id="13" name="Текст 4">
            <a:extLst>
              <a:ext uri="{FF2B5EF4-FFF2-40B4-BE49-F238E27FC236}">
                <a16:creationId xmlns:a16="http://schemas.microsoft.com/office/drawing/2014/main" id="{F8E173DB-811B-4124-B89A-75D1EA030F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7" y="1672462"/>
            <a:ext cx="5674105" cy="537011"/>
          </a:xfrm>
        </p:spPr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14" name="Текст 5">
            <a:extLst>
              <a:ext uri="{FF2B5EF4-FFF2-40B4-BE49-F238E27FC236}">
                <a16:creationId xmlns:a16="http://schemas.microsoft.com/office/drawing/2014/main" id="{12BFEF3C-3496-4B49-A818-6823E2707BB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5788" y="2066928"/>
            <a:ext cx="4929854" cy="703205"/>
          </a:xfrm>
        </p:spPr>
        <p:txBody>
          <a:bodyPr/>
          <a:lstStyle/>
          <a:p>
            <a:r>
              <a:rPr lang="ru-RU" dirty="0"/>
              <a:t>Разработать централизованную систему алертинга и реактивного управления автономным роем.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D9FA368E-9D06-4A68-B83A-9B0EB1DC3BD5}"/>
              </a:ext>
            </a:extLst>
          </p:cNvPr>
          <p:cNvSpPr txBox="1">
            <a:spLocks/>
          </p:cNvSpPr>
          <p:nvPr/>
        </p:nvSpPr>
        <p:spPr>
          <a:xfrm>
            <a:off x="566762" y="2770133"/>
            <a:ext cx="5510212" cy="30777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Табл. 1. Ключевые компоненты системы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CE3F0F8F-E614-4EDE-A9D6-4425C15C8B11}"/>
              </a:ext>
            </a:extLst>
          </p:cNvPr>
          <p:cNvSpPr txBox="1">
            <a:spLocks/>
          </p:cNvSpPr>
          <p:nvPr/>
        </p:nvSpPr>
        <p:spPr>
          <a:xfrm>
            <a:off x="6638306" y="1672461"/>
            <a:ext cx="5011388" cy="5370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Актуальность</a:t>
            </a:r>
          </a:p>
        </p:txBody>
      </p:sp>
      <p:sp>
        <p:nvSpPr>
          <p:cNvPr id="18" name="Текст 5">
            <a:extLst>
              <a:ext uri="{FF2B5EF4-FFF2-40B4-BE49-F238E27FC236}">
                <a16:creationId xmlns:a16="http://schemas.microsoft.com/office/drawing/2014/main" id="{02362799-4867-410D-8737-6219A6D9CAA7}"/>
              </a:ext>
            </a:extLst>
          </p:cNvPr>
          <p:cNvSpPr txBox="1">
            <a:spLocks/>
          </p:cNvSpPr>
          <p:nvPr/>
        </p:nvSpPr>
        <p:spPr>
          <a:xfrm>
            <a:off x="6638305" y="2157424"/>
            <a:ext cx="5011389" cy="434997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300" b="0" i="0" kern="1200">
                <a:solidFill>
                  <a:srgbClr val="0E2D69"/>
                </a:solidFill>
                <a:latin typeface="HSE Sans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Проблема</a:t>
            </a:r>
            <a:r>
              <a:rPr lang="en-US" dirty="0"/>
              <a:t>:</a:t>
            </a:r>
            <a:endParaRPr lang="ru-RU" dirty="0"/>
          </a:p>
          <a:p>
            <a:r>
              <a:rPr lang="ru-RU" dirty="0"/>
              <a:t>Отдельный робот не распознает ситуации, требующие изменения поведения всей группы</a:t>
            </a:r>
          </a:p>
          <a:p>
            <a:endParaRPr lang="ru-RU" dirty="0"/>
          </a:p>
          <a:p>
            <a:r>
              <a:rPr lang="ru-RU" dirty="0"/>
              <a:t>Что упущено</a:t>
            </a:r>
            <a:r>
              <a:rPr lang="en-US" dirty="0"/>
              <a:t>:</a:t>
            </a:r>
          </a:p>
          <a:p>
            <a:r>
              <a:rPr lang="ru-RU" dirty="0"/>
              <a:t>Нет гибкой архитектуры для централизованного анализа видеопотоков и динамической коррекции миссий роя в реальном времени</a:t>
            </a:r>
          </a:p>
          <a:p>
            <a:endParaRPr lang="ru-RU" dirty="0"/>
          </a:p>
          <a:p>
            <a:r>
              <a:rPr lang="ru-RU" dirty="0"/>
              <a:t>Практическая ценность</a:t>
            </a:r>
            <a:r>
              <a:rPr lang="en-US" dirty="0"/>
              <a:t>:</a:t>
            </a:r>
          </a:p>
          <a:p>
            <a:r>
              <a:rPr lang="en-US" dirty="0"/>
              <a:t>✓ </a:t>
            </a:r>
            <a:r>
              <a:rPr lang="ru-RU" dirty="0"/>
              <a:t>Повышение безопасности роя</a:t>
            </a:r>
          </a:p>
          <a:p>
            <a:r>
              <a:rPr lang="en-US" dirty="0"/>
              <a:t>✓</a:t>
            </a:r>
            <a:r>
              <a:rPr lang="ru-RU" dirty="0"/>
              <a:t> Снижение требований к </a:t>
            </a:r>
            <a:r>
              <a:rPr lang="ru-RU" dirty="0" err="1"/>
              <a:t>межроботной</a:t>
            </a:r>
            <a:r>
              <a:rPr lang="ru-RU" dirty="0"/>
              <a:t> связи</a:t>
            </a:r>
          </a:p>
          <a:p>
            <a:r>
              <a:rPr lang="en-US" dirty="0"/>
              <a:t>✓</a:t>
            </a:r>
            <a:r>
              <a:rPr lang="ru-RU" dirty="0"/>
              <a:t> Прототип для промышленных сценариев (склады, логистика, мониторинг, сопровождение, охрана территории)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43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59746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Системные требования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8204F7D-250B-3E40-B4D7-7CC3EB67E91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5788" y="1695462"/>
            <a:ext cx="11058065" cy="307778"/>
          </a:xfrm>
        </p:spPr>
        <p:txBody>
          <a:bodyPr/>
          <a:lstStyle/>
          <a:p>
            <a:r>
              <a:rPr lang="ru-RU" dirty="0"/>
              <a:t>Табл. 2. Системные требования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120C26E-BD42-274D-944E-BE316BE9C3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sz="1800" dirty="0"/>
              <a:t>Итого</a:t>
            </a:r>
            <a:r>
              <a:rPr lang="en-US" sz="1800" dirty="0">
                <a:latin typeface="HSE Sans" panose="02000000000000000000"/>
              </a:rPr>
              <a:t>:</a:t>
            </a:r>
            <a:r>
              <a:rPr lang="ru-RU" sz="1800" dirty="0"/>
              <a:t> </a:t>
            </a:r>
            <a:r>
              <a:rPr lang="ru-RU" sz="1800" b="1" dirty="0">
                <a:solidFill>
                  <a:srgbClr val="102D69"/>
                </a:solidFill>
              </a:rPr>
              <a:t>16</a:t>
            </a:r>
            <a:r>
              <a:rPr lang="en-US" sz="1800" b="1" dirty="0">
                <a:solidFill>
                  <a:srgbClr val="102D69"/>
                </a:solidFill>
                <a:latin typeface="HSE Sans" panose="02000000000000000000"/>
              </a:rPr>
              <a:t> 168,79 </a:t>
            </a:r>
            <a:r>
              <a:rPr lang="ru-RU" sz="1800" b="1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₽/мес</a:t>
            </a:r>
            <a:endParaRPr lang="ru-RU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RU" sz="1300" b="1" dirty="0">
              <a:ln>
                <a:solidFill>
                  <a:schemeClr val="bg1">
                    <a:lumMod val="75000"/>
                  </a:schemeClr>
                </a:solidFill>
              </a:ln>
              <a:latin typeface="HSE Sans" panose="02000000000000000000" pitchFamily="2" charset="0"/>
            </a:endParaRPr>
          </a:p>
          <a:p>
            <a:endParaRPr lang="ru-RU" dirty="0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139B2D5-1198-C647-919C-53E12F01A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972018"/>
              </p:ext>
            </p:extLst>
          </p:nvPr>
        </p:nvGraphicFramePr>
        <p:xfrm>
          <a:off x="585787" y="2274857"/>
          <a:ext cx="7898629" cy="327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9451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  <a:gridCol w="1579726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Критерий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Машина для симуляций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Машина для микросервисов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Кластер 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для 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LLM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Провайдер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Selectel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Selectel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MTS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9629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Конфигурация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  <a:latin typeface="HSE Sans" panose="02000000000000000000"/>
                          <a:ea typeface="Gungsuh" panose="02030600000101010101" pitchFamily="18" charset="-127"/>
                          <a:cs typeface="+mn-cs"/>
                        </a:rPr>
                        <a:t>4 vCPU, 16 GB RAM, RTX 4090 (24 GB VRAM)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/>
                        <a:ea typeface="Gungsuh" panose="02030600000101010101" pitchFamily="18" charset="-127"/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 vCPU, 8 GB RAM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 × </a:t>
                      </a: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HSE Sans" panose="02000000000000000000"/>
                          <a:ea typeface="+mn-ea"/>
                          <a:cs typeface="+mn-cs"/>
                        </a:rPr>
                        <a:t>Tesla V100-PCIE (32 GB VRAM)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Диск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128 GB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28 GB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 </a:t>
                      </a: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sz="13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1.6 TB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 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Стоимость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15 012</a:t>
                      </a: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/>
                        </a:rPr>
                        <a:t>,70 </a:t>
                      </a:r>
                      <a:r>
                        <a:rPr lang="ru-RU" sz="1300" b="1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₽/мес</a:t>
                      </a:r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/>
                      </a:endParaRPr>
                    </a:p>
                    <a:p>
                      <a:pPr algn="r"/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1 156,09 </a:t>
                      </a:r>
                      <a:r>
                        <a:rPr lang="ru-RU" sz="1300" b="1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₽/мес</a:t>
                      </a:r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0 </a:t>
                      </a:r>
                      <a:r>
                        <a:rPr lang="ru-RU" sz="1300" b="1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₽/мес</a:t>
                      </a:r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76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C8004A-AA5B-48A4-A77D-B5854734EA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/>
        </p:blipFill>
        <p:spPr>
          <a:xfrm>
            <a:off x="6684683" y="1447790"/>
            <a:ext cx="4325107" cy="4325107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nvidia_Isaac_simulation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3ED0B4E-1336-4143-92B3-AF0CEF6B7F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736860" y="1405031"/>
            <a:ext cx="3444605" cy="4047937"/>
          </a:xfrm>
          <a:prstGeom prst="rect">
            <a:avLst/>
          </a:prstGeom>
          <a:solidFill>
            <a:srgbClr val="D9D9D9"/>
          </a:solidFill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10E067-4292-49D8-85FF-C296F2B4EB42}"/>
              </a:ext>
            </a:extLst>
          </p:cNvPr>
          <p:cNvSpPr txBox="1"/>
          <p:nvPr/>
        </p:nvSpPr>
        <p:spPr>
          <a:xfrm>
            <a:off x="1736860" y="5706093"/>
            <a:ext cx="344460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300" dirty="0">
                <a:latin typeface="HSE Sans" panose="02000000000000000000" pitchFamily="2" charset="0"/>
              </a:rPr>
              <a:t>Рис. 1. Пользовательская среда в </a:t>
            </a:r>
            <a:r>
              <a:rPr lang="en-US" sz="1300" dirty="0">
                <a:latin typeface="HSE Sans" panose="02000000000000000000" pitchFamily="2" charset="0"/>
              </a:rPr>
              <a:t>IsaacSim </a:t>
            </a:r>
            <a:r>
              <a:rPr lang="ru-RU" sz="1300" dirty="0">
                <a:latin typeface="HSE Sans" panose="02000000000000000000" pitchFamily="2" charset="0"/>
              </a:rPr>
              <a:t>(вид сверху)</a:t>
            </a:r>
          </a:p>
        </p:txBody>
      </p:sp>
    </p:spTree>
    <p:extLst>
      <p:ext uri="{BB962C8B-B14F-4D97-AF65-F5344CB8AC3E}">
        <p14:creationId xmlns:p14="http://schemas.microsoft.com/office/powerpoint/2010/main" val="4177677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59746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isaac_mission_control</a:t>
            </a:r>
            <a:r>
              <a:rPr lang="en-US" dirty="0"/>
              <a:t> +</a:t>
            </a:r>
          </a:p>
          <a:p>
            <a:r>
              <a:rPr lang="en-US" dirty="0" err="1"/>
              <a:t>isaac_mission_dispatch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DDB34CB-819E-4D7F-9C5C-023ACEA91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230" y="1250391"/>
            <a:ext cx="3256641" cy="500545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96EB42E-24D0-4E47-ACBB-BE6569308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129" y="1250391"/>
            <a:ext cx="3090287" cy="514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02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E2F2718-7DAD-4CCE-BD2C-E1E8BA2E60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Деплой моделей </a:t>
            </a:r>
            <a:r>
              <a:rPr lang="en-US" dirty="0"/>
              <a:t>LLM </a:t>
            </a:r>
            <a:r>
              <a:rPr lang="ru-RU" dirty="0"/>
              <a:t>на </a:t>
            </a:r>
            <a:r>
              <a:rPr lang="en-US" dirty="0"/>
              <a:t>GPU-</a:t>
            </a:r>
            <a:r>
              <a:rPr lang="ru-RU" dirty="0"/>
              <a:t>кластере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vllm_service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B632F9B-52EE-4D03-88C9-34B39464C6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vLLM Data Parallel – </a:t>
            </a:r>
            <a:r>
              <a:rPr lang="ru-RU" dirty="0"/>
              <a:t>зачем?</a:t>
            </a:r>
          </a:p>
          <a:p>
            <a:r>
              <a:rPr lang="ru-RU" dirty="0"/>
              <a:t>Проблема: дальнее планирование требует каскада вызовов агентов; запросы по разным роботам последовательно увеличивают время выполнения.</a:t>
            </a:r>
          </a:p>
          <a:p>
            <a:r>
              <a:rPr lang="ru-RU" dirty="0"/>
              <a:t>Решение: vLLM в режиме Data Parallel на двух V100 → параллельная обработка вызовов → снижение latency.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Одна таска -</a:t>
            </a:r>
            <a:r>
              <a:rPr lang="en-US" dirty="0"/>
              <a:t>&gt; </a:t>
            </a:r>
            <a:r>
              <a:rPr lang="ru-RU" dirty="0"/>
              <a:t>каскад вызовов агентов (дальнее планирование)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Параллельная обработка -</a:t>
            </a:r>
            <a:r>
              <a:rPr lang="en-US" dirty="0"/>
              <a:t>&gt; </a:t>
            </a:r>
            <a:r>
              <a:rPr lang="ru-RU" dirty="0"/>
              <a:t>снижение общего времени выполнения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85586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59746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vllm_service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C322DC-AB41-4E38-9206-664B194B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05" y="1856494"/>
            <a:ext cx="9724190" cy="38804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211AFD-0A6F-4D3B-BCBC-FEE228492365}"/>
              </a:ext>
            </a:extLst>
          </p:cNvPr>
          <p:cNvSpPr txBox="1"/>
          <p:nvPr/>
        </p:nvSpPr>
        <p:spPr>
          <a:xfrm>
            <a:off x="1842837" y="1419101"/>
            <a:ext cx="813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>
                <a:latin typeface="HSE Sans" panose="02000000000000000000" pitchFamily="2" charset="0"/>
              </a:rPr>
              <a:t>unsloth/GLM-4.7-Flash-GGUF;</a:t>
            </a:r>
            <a:r>
              <a:rPr lang="ru-RU" sz="1600" dirty="0">
                <a:latin typeface="HSE Sans" panose="02000000000000000000" pitchFamily="2" charset="0"/>
              </a:rPr>
              <a:t> </a:t>
            </a:r>
            <a:r>
              <a:rPr lang="en-US" sz="1600" dirty="0">
                <a:latin typeface="HSE Sans" panose="02000000000000000000" pitchFamily="2" charset="0"/>
              </a:rPr>
              <a:t> mistralai/Devstral-Small-2507; </a:t>
            </a:r>
            <a:r>
              <a:rPr lang="ru-RU" sz="1600" dirty="0">
                <a:latin typeface="HSE Sans" panose="02000000000000000000" pitchFamily="2" charset="0"/>
              </a:rPr>
              <a:t> </a:t>
            </a:r>
            <a:r>
              <a:rPr lang="en-US" sz="1600" dirty="0">
                <a:latin typeface="HSE Sans" panose="02000000000000000000" pitchFamily="2" charset="0"/>
              </a:rPr>
              <a:t>Qwen/</a:t>
            </a:r>
            <a:r>
              <a:rPr lang="en-US" dirty="0">
                <a:latin typeface="HSE Sans" panose="02000000000000000000" pitchFamily="2" charset="0"/>
              </a:rPr>
              <a:t>Qwen2.5-14B-Instruct</a:t>
            </a:r>
            <a:r>
              <a:rPr lang="en-US" sz="1600" dirty="0">
                <a:latin typeface="HSE Sans" panose="02000000000000000000" pitchFamily="2" charset="0"/>
              </a:rPr>
              <a:t>; </a:t>
            </a:r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385033-9D49-44EA-8315-C2BF8CEC950C}"/>
              </a:ext>
            </a:extLst>
          </p:cNvPr>
          <p:cNvSpPr txBox="1"/>
          <p:nvPr/>
        </p:nvSpPr>
        <p:spPr>
          <a:xfrm>
            <a:off x="4539090" y="5805039"/>
            <a:ext cx="25596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300" dirty="0">
                <a:latin typeface="HSE Sans" panose="02000000000000000000" pitchFamily="2" charset="0"/>
              </a:rPr>
              <a:t>Рис. 2. Архитектура </a:t>
            </a:r>
            <a:r>
              <a:rPr lang="en-US" sz="1300" dirty="0">
                <a:latin typeface="HSE Sans" panose="02000000000000000000" pitchFamily="2" charset="0"/>
              </a:rPr>
              <a:t>vLLM </a:t>
            </a:r>
            <a:r>
              <a:rPr lang="ru-RU" sz="1300" dirty="0">
                <a:latin typeface="HSE Sans" panose="02000000000000000000" pitchFamily="2" charset="0"/>
              </a:rPr>
              <a:t>сервиса</a:t>
            </a:r>
          </a:p>
        </p:txBody>
      </p:sp>
    </p:spTree>
    <p:extLst>
      <p:ext uri="{BB962C8B-B14F-4D97-AF65-F5344CB8AC3E}">
        <p14:creationId xmlns:p14="http://schemas.microsoft.com/office/powerpoint/2010/main" val="2044282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C8004A-AA5B-48A4-A77D-B5854734EA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Централизованный мозг системы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orchestrator</a:t>
            </a:r>
            <a:endParaRPr lang="ru-RU" dirty="0"/>
          </a:p>
        </p:txBody>
      </p:sp>
      <p:graphicFrame>
        <p:nvGraphicFramePr>
          <p:cNvPr id="12" name="Table 2">
            <a:extLst>
              <a:ext uri="{FF2B5EF4-FFF2-40B4-BE49-F238E27FC236}">
                <a16:creationId xmlns:a16="http://schemas.microsoft.com/office/drawing/2014/main" id="{E8A0EF66-2FA1-40D9-BADF-99EA5C6BC9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82437"/>
              </p:ext>
            </p:extLst>
          </p:nvPr>
        </p:nvGraphicFramePr>
        <p:xfrm>
          <a:off x="585788" y="2506425"/>
          <a:ext cx="6098865" cy="2879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681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4324184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</a:tblGrid>
              <a:tr h="409448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Этап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Описание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461547">
                <a:tc>
                  <a:txBody>
                    <a:bodyPr/>
                    <a:lstStyle/>
                    <a:p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Прием задачи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Пользователь формирует задачу на естественном языке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49629"/>
                  </a:ext>
                </a:extLst>
              </a:tr>
              <a:tr h="5948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Планирование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 dirty="0">
                          <a:solidFill>
                            <a:schemeClr val="dk1"/>
                          </a:solidFill>
                          <a:effectLst/>
                          <a:latin typeface="HSE Sans" panose="02000000000000000000"/>
                          <a:ea typeface="Gungsuh" panose="02030600000101010101" pitchFamily="18" charset="-127"/>
                          <a:cs typeface="+mn-cs"/>
                        </a:rPr>
                        <a:t>4 vCPU, </a:t>
                      </a:r>
                      <a:r>
                        <a:rPr lang="ru-RU" sz="1300" b="0" kern="1200" dirty="0">
                          <a:solidFill>
                            <a:schemeClr val="dk1"/>
                          </a:solidFill>
                          <a:effectLst/>
                          <a:latin typeface="HSE Sans" panose="02000000000000000000"/>
                          <a:ea typeface="Gungsuh" panose="02030600000101010101" pitchFamily="18" charset="-127"/>
                          <a:cs typeface="+mn-cs"/>
                        </a:rPr>
                        <a:t>Оркестратор строит многошаговый план действий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/>
                        <a:ea typeface="Gungsuh" panose="02030600000101010101" pitchFamily="18" charset="-127"/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7282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Исполнение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</a:rPr>
                        <a:t>Распределяет подзадачи между специализированными агентами</a:t>
                      </a:r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6196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 err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Стримминг</a:t>
                      </a:r>
                      <a:endParaRPr lang="ru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/>
                        </a:rPr>
                        <a:t>Весь процесс в реальном времени транслируется пользователю</a:t>
                      </a:r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/>
                      </a:endParaRPr>
                    </a:p>
                    <a:p>
                      <a:pPr algn="r"/>
                      <a:endParaRPr lang="en-RU" sz="1300" b="0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  <p:sp>
        <p:nvSpPr>
          <p:cNvPr id="13" name="Текст 4">
            <a:extLst>
              <a:ext uri="{FF2B5EF4-FFF2-40B4-BE49-F238E27FC236}">
                <a16:creationId xmlns:a16="http://schemas.microsoft.com/office/drawing/2014/main" id="{5AD0E920-52B6-4AAE-8203-84207DABEE20}"/>
              </a:ext>
            </a:extLst>
          </p:cNvPr>
          <p:cNvSpPr txBox="1">
            <a:spLocks/>
          </p:cNvSpPr>
          <p:nvPr/>
        </p:nvSpPr>
        <p:spPr>
          <a:xfrm>
            <a:off x="548037" y="2057842"/>
            <a:ext cx="11058065" cy="30777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Табл. 3. Логика работы оркестратора </a:t>
            </a:r>
          </a:p>
        </p:txBody>
      </p:sp>
    </p:spTree>
    <p:extLst>
      <p:ext uri="{BB962C8B-B14F-4D97-AF65-F5344CB8AC3E}">
        <p14:creationId xmlns:p14="http://schemas.microsoft.com/office/powerpoint/2010/main" val="3087852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79B934C-D7E2-DD48-BCA2-BCD2E21D6C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7654682-36D6-CD40-8608-A97244D28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59746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643567B-6E74-9542-8F9A-1A48CBB738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orchestrator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1F21285-153B-4393-816F-0E906F52299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8" t="5781" r="1295" b="5799"/>
          <a:stretch/>
        </p:blipFill>
        <p:spPr>
          <a:xfrm>
            <a:off x="980704" y="1401288"/>
            <a:ext cx="10230592" cy="484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событий в реальном времени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alerting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6B6711-04DF-4A0D-8550-C55C06037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584" y="1858487"/>
            <a:ext cx="3642305" cy="461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55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EC8004A-AA5B-48A4-A77D-B5854734EA7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2EAF03B-EC26-1D47-94AC-C75942861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 для дистилляции </a:t>
            </a:r>
            <a:r>
              <a:rPr lang="en-US" dirty="0"/>
              <a:t>VLA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smolvla_tools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8F7955-080C-43AA-B98B-21D0AAA85F87}"/>
              </a:ext>
            </a:extLst>
          </p:cNvPr>
          <p:cNvSpPr txBox="1"/>
          <p:nvPr/>
        </p:nvSpPr>
        <p:spPr>
          <a:xfrm>
            <a:off x="969324" y="2871679"/>
            <a:ext cx="48621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Метрика	</a:t>
            </a:r>
            <a:r>
              <a:rPr lang="en-US" dirty="0"/>
              <a:t>                        </a:t>
            </a:r>
            <a:r>
              <a:rPr lang="ru-RU" dirty="0"/>
              <a:t>До	</a:t>
            </a:r>
            <a:r>
              <a:rPr lang="en-US" dirty="0"/>
              <a:t>    </a:t>
            </a:r>
            <a:r>
              <a:rPr lang="ru-RU" dirty="0"/>
              <a:t>После</a:t>
            </a:r>
          </a:p>
          <a:p>
            <a:r>
              <a:rPr lang="ru-RU" dirty="0"/>
              <a:t>Параметры	450M	1M (443×)</a:t>
            </a:r>
          </a:p>
          <a:p>
            <a:r>
              <a:rPr lang="ru-RU" dirty="0"/>
              <a:t>VRAM	</a:t>
            </a:r>
            <a:r>
              <a:rPr lang="en-US" dirty="0"/>
              <a:t>                   </a:t>
            </a:r>
            <a:r>
              <a:rPr lang="ru-RU" dirty="0"/>
              <a:t>6 GB	&lt;0.5 GB (12×)</a:t>
            </a:r>
          </a:p>
          <a:p>
            <a:r>
              <a:rPr lang="ru-RU" dirty="0"/>
              <a:t>Инференс	450 </a:t>
            </a:r>
            <a:r>
              <a:rPr lang="ru-RU" dirty="0" err="1"/>
              <a:t>ms</a:t>
            </a:r>
            <a:r>
              <a:rPr lang="ru-RU" dirty="0"/>
              <a:t>	18 </a:t>
            </a:r>
            <a:r>
              <a:rPr lang="ru-RU" dirty="0" err="1"/>
              <a:t>ms</a:t>
            </a:r>
            <a:r>
              <a:rPr lang="ru-RU" dirty="0"/>
              <a:t> (25×)</a:t>
            </a:r>
          </a:p>
          <a:p>
            <a:r>
              <a:rPr lang="ru-RU" dirty="0"/>
              <a:t>Точность (R²)	84.1%	82.6% (-1.</a:t>
            </a:r>
          </a:p>
        </p:txBody>
      </p:sp>
    </p:spTree>
    <p:extLst>
      <p:ext uri="{BB962C8B-B14F-4D97-AF65-F5344CB8AC3E}">
        <p14:creationId xmlns:p14="http://schemas.microsoft.com/office/powerpoint/2010/main" val="2028285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3EB29DC1-D5D4-FB41-9E2D-AA4750D0C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Исследование и предпринимательство в искусственном интеллекте</a:t>
            </a:r>
          </a:p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5B6DD1A-BEFA-D842-9B7A-78D7BD1A5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59163" y="548720"/>
            <a:ext cx="2318182" cy="408109"/>
          </a:xfrm>
        </p:spPr>
        <p:txBody>
          <a:bodyPr/>
          <a:lstStyle/>
          <a:p>
            <a:r>
              <a:rPr lang="ru-RU" sz="1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Организация кооперативного восприятия сцены в группе автономных агентов на основе обмена визуальной информацией</a:t>
            </a:r>
            <a:endParaRPr lang="ru-RU" dirty="0"/>
          </a:p>
          <a:p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8968744-3B75-9B47-92FD-77E1E725F2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gateway +</a:t>
            </a:r>
          </a:p>
          <a:p>
            <a:r>
              <a:rPr lang="en-US" dirty="0"/>
              <a:t>data_storage_service +</a:t>
            </a:r>
          </a:p>
          <a:p>
            <a:r>
              <a:rPr lang="en-US" dirty="0"/>
              <a:t>frontend</a:t>
            </a:r>
            <a:endParaRPr lang="ru-RU" dirty="0"/>
          </a:p>
        </p:txBody>
      </p:sp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EB5761A0-55C3-4107-A0EE-C70A74DB8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 планах на будущее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BE2B839-0807-4171-A363-12A49A168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950" y="1365976"/>
            <a:ext cx="2684491" cy="468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07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3DAF31-D8A6-49A0-9A5D-8B2EA5B1C511}">
  <ds:schemaRefs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e96afe77-3acb-4328-97fc-408e1bde3ecd"/>
    <ds:schemaRef ds:uri="9875bd71-cde8-496c-a136-433f55d5e6d0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772</Words>
  <Application>Microsoft Office PowerPoint</Application>
  <PresentationFormat>Широкоэкранный</PresentationFormat>
  <Paragraphs>131</Paragraphs>
  <Slides>13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HSE Sans</vt:lpstr>
      <vt:lpstr>Times New Roman</vt:lpstr>
      <vt:lpstr>Office Theme</vt:lpstr>
      <vt:lpstr>Организация кооперативного восприятия сцены в группе автономных агентов на основе обмена визуальной информацией Cooperative Visual Perception in Multi-Agent Systems</vt:lpstr>
      <vt:lpstr>Презентация PowerPoint</vt:lpstr>
      <vt:lpstr>Презентация PowerPoint</vt:lpstr>
      <vt:lpstr>Презентация PowerPoint</vt:lpstr>
      <vt:lpstr>Презентация PowerPoint</vt:lpstr>
      <vt:lpstr>Деплой моделей LLM на GPU-кластере</vt:lpstr>
      <vt:lpstr>Презентация PowerPoint</vt:lpstr>
      <vt:lpstr>Централизованный мозг системы</vt:lpstr>
      <vt:lpstr>Презентация PowerPoint</vt:lpstr>
      <vt:lpstr>Триггеры событий в реальном времени</vt:lpstr>
      <vt:lpstr>Инструмент для дистилляции VLA</vt:lpstr>
      <vt:lpstr>В планах на будущее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данил вольхин</cp:lastModifiedBy>
  <cp:revision>143</cp:revision>
  <cp:lastPrinted>2021-11-11T13:08:42Z</cp:lastPrinted>
  <dcterms:created xsi:type="dcterms:W3CDTF">2021-11-11T08:52:47Z</dcterms:created>
  <dcterms:modified xsi:type="dcterms:W3CDTF">2026-04-01T08:45:37Z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